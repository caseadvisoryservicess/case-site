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se-site/admin/data/projects/takhtapul/uploads/facade-vertical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85432" y="0"/>
            <a:ext cx="5306263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885432" cy="6858000"/>
          </a:xfrm>
          <a:prstGeom prst="rect">
            <a:avLst/>
          </a:prstGeom>
          <a:solidFill>
            <a:srgbClr val="1B1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68580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1737360"/>
            <a:ext cx="5760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TAXTAPUL</a:t>
            </a:r>
            <a:endParaRPr lang="en-US" sz="7600" dirty="0"/>
          </a:p>
        </p:txBody>
      </p:sp>
      <p:sp>
        <p:nvSpPr>
          <p:cNvPr id="6" name="Text 3"/>
          <p:cNvSpPr/>
          <p:nvPr/>
        </p:nvSpPr>
        <p:spPr>
          <a:xfrm>
            <a:off x="566928" y="292608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ул. Тахтапул, 31 · Шайхантахурский район · Ташкент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66928" y="3520440"/>
            <a:ext cx="1371600" cy="27432"/>
          </a:xfrm>
          <a:prstGeom prst="rect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767328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Инвестиционный обзор объекта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566928" y="44074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Геоаналитика окружения, оценка модели CASE OS и выбор формата использования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66928" y="5212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Отдельно стоящее коммерческое здание · 5 уровней · 2 299,0 м² общей площади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6355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Август 2026 · документ для инвестора, не является публичной офертой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ЗДАНИЕ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Объект в цифрах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3872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57276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2 299,0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86384" y="2139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86384" y="237744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площадь здания (GBA) по государственному кадастру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371600"/>
            <a:ext cx="353872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157276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1 855,0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44568" y="2139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44568" y="237744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Арендопригодная площадь (GLA), пять уровней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371600"/>
            <a:ext cx="353872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1572768"/>
            <a:ext cx="3099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02752" y="2139696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уровней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02752" y="2377440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Подвал и четыре надземных этажа, свободная планировка</a:t>
            </a:r>
            <a:endParaRPr lang="en-US" sz="1050" dirty="0"/>
          </a:p>
        </p:txBody>
      </p:sp>
      <p:pic>
        <p:nvPicPr>
          <p:cNvPr id="18" name="Image 0" descr="/home/user/case-site/admin/data/projects/takhtapul/uploads/hero-du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3163824"/>
            <a:ext cx="5394960" cy="274320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181344" y="3163824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64224" y="32461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645 м²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055864" y="32461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 в постоянном пользовании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181344" y="3877056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4224" y="39593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440 м²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055864" y="39593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пятно застройки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181344" y="4590288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364224" y="467258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 4,0 м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55864" y="46725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высота потолков, первый этаж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181344" y="5303520"/>
            <a:ext cx="54406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64224" y="5385816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359-382 м²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055864" y="53858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арендопригодная площадь этажа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66928" y="5998464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Площади по данным государственного кадастра, подлежат уточнению по фактическим обмерам при сдаче.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ПОМЕЩЕНИЯ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Здание по уровням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55096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2103120"/>
                <a:gridCol w="2286000"/>
                <a:gridCol w="1188720"/>
                <a:gridCol w="378561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Общая площадь (GBA), м²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Арендопригодная (GLA), м²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Потолок,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Назначение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Подвал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358,9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сервис, шоурум, вспомогательные функции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этаж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440,0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шоурум, сервис, ресепшн клиники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этаж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клиника, офис, учебный 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этаж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клиника, офис, учебный 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этаж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481,4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офис, учебный 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Здание целиком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2 299,0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1 855,0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подвал и четыре этажа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7DC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66928" y="41605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выписки государственного кадастра и рабочая документация. Планировки свободные, перегородки под задачу арендатора.</a:t>
            </a:r>
            <a:endParaRPr lang="en-US" sz="950" dirty="0"/>
          </a:p>
        </p:txBody>
      </p:sp>
      <p:pic>
        <p:nvPicPr>
          <p:cNvPr id="8" name="Image 0" descr="/home/user/case-site/admin/data/projects/takhtapul/uploads/plan-cad-b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4709160"/>
            <a:ext cx="2681478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" y="6108192"/>
            <a:ext cx="2681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Подвал</a:t>
            </a:r>
            <a:endParaRPr lang="en-US" sz="950" dirty="0"/>
          </a:p>
        </p:txBody>
      </p:sp>
      <p:pic>
        <p:nvPicPr>
          <p:cNvPr id="10" name="Image 1" descr="/home/user/case-site/admin/data/projects/takhtapul/uploads/plan-cad-f1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58134" y="4709160"/>
            <a:ext cx="2681478" cy="1371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358134" y="6108192"/>
            <a:ext cx="2681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этаж</a:t>
            </a:r>
            <a:endParaRPr lang="en-US" sz="950" dirty="0"/>
          </a:p>
        </p:txBody>
      </p:sp>
      <p:pic>
        <p:nvPicPr>
          <p:cNvPr id="12" name="Image 2" descr="/home/user/case-site/admin/data/projects/takhtapul/uploads/plan-cad-f23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49340" y="4709160"/>
            <a:ext cx="2681478" cy="1371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49340" y="6108192"/>
            <a:ext cx="2681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этаж</a:t>
            </a:r>
            <a:endParaRPr lang="en-US" sz="950" dirty="0"/>
          </a:p>
        </p:txBody>
      </p:sp>
      <p:pic>
        <p:nvPicPr>
          <p:cNvPr id="14" name="Image 3" descr="/home/user/case-site/admin/data/projects/takhtapul/uploads/plan-cad-f4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40546" y="4709160"/>
            <a:ext cx="2681478" cy="1371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940546" y="6108192"/>
            <a:ext cx="26814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этаж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Локация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6" name="Image 0" descr="/home/user/case-site/admin/data/projects/takhtapul/uploads/caseos-ma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371600"/>
            <a:ext cx="4983480" cy="42885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5705856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Кольцо - радиус километра от объекта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824728" y="1371600"/>
            <a:ext cx="5797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стоит внутри плотного жилого массива Шайхантахура, в километре вокруг живут 32 375 человек. Это не деловой периметр города, а обжитой район с готовым ежедневным потоком людей.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24728" y="2395728"/>
          <a:ext cx="5797296" cy="914400"/>
        </p:xfrm>
        <a:graphic>
          <a:graphicData uri="http://schemas.openxmlformats.org/drawingml/2006/table">
            <a:tbl>
              <a:tblPr/>
              <a:tblGrid>
                <a:gridCol w="4425696"/>
                <a:gridCol w="13716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Ориентир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Расстояние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Метро Бадамзар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1 791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Бизнес-центр NEXUS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Бизнес-центр Бизнес 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889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Бизнес-центр 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41-oilaviy poliklinika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Детская инфекционная клиническая больница №4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LINE - ЭКО клиника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824728" y="5257800"/>
            <a:ext cx="57972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Рядом на карте приложения: Малая кольцевая дорога, Jomiy bozor и Malika bozor, Ташкентская телебашня, УзЭкспоЦентр, Японский сад, зоопарк, парк Анхор Локомотив, мечеть Минор.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se-site/admin/data/projects/takhtapul/uploads/aerial-n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1B1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88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66928" y="2606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Геоаналитика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32918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показывают данные о месте и как их считает модель CASE OS Geo Analytics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39776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данных и метод расчёта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Окружение объекта по радиусам от 500 м до 3 км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окружения: медицина и бизнес-центры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формата в одной модели: балл, конкуренция, медиана города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формула работает, а где её выводы применять нельзя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ГЕОАНАЛИТИКА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считается балл площадки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CASE OS оценивает точку двумя величинами: сколько людей живёт вокруг и сколько рядом заведений того же профиля. Формула открытая, её можно пересчитать вручную.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6309360" cy="1371600"/>
          </a:xfrm>
          <a:prstGeom prst="roundRect">
            <a:avLst>
              <a:gd name="adj" fmla="val 4000"/>
            </a:avLst>
          </a:prstGeom>
          <a:solidFill>
            <a:srgbClr val="EDE7DC"/>
          </a:solidFill>
          <a:ln w="12700">
            <a:solidFill>
              <a:srgbClr val="DFDC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993392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ФОРМУЛА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95528" y="2267712"/>
            <a:ext cx="5852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балл = 55% x min(1, население 1 км / 25 000) + 45% x max(0, 1 - конкуренты 1 км / эталон)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3401568"/>
            <a:ext cx="3063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68096" y="35661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68096" y="3840480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32 375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68096" y="4434840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 в километре вокруг при эталоне 25 000. Спрос перекрыт на 29% и упирается в потолок модели, поэтому у всех форматов он одинаковый.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13048" y="3401568"/>
            <a:ext cx="30632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014216" y="3566160"/>
            <a:ext cx="2660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14216" y="3840480"/>
            <a:ext cx="26609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/ 33 / 19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014216" y="4434840"/>
            <a:ext cx="2660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соседей того же профиля у офиса, клиники и образования при общем эталоне 8. Именно это и разводит форматы по баллам.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50608" y="1810512"/>
            <a:ext cx="4471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Условия расчёта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150608" y="2240280"/>
            <a:ext cx="447141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2313432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Радиус спроса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930384" y="231343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км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150608" y="2843784"/>
            <a:ext cx="447141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0" y="2916936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спроса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930384" y="291693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чел.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150608" y="3447288"/>
            <a:ext cx="447141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0" y="3520440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 конкуренции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30384" y="3520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объектов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150608" y="4050792"/>
            <a:ext cx="4471416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4123944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Веса спрос / конкуренция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930384" y="412394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45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150608" y="4654296"/>
            <a:ext cx="4471416" cy="512064"/>
          </a:xfrm>
          <a:prstGeom prst="roundRect">
            <a:avLst>
              <a:gd name="adj" fmla="val 10714"/>
            </a:avLst>
          </a:prstGeom>
          <a:solidFill>
            <a:srgbClr val="EDE7DC"/>
          </a:solidFill>
          <a:ln w="9525">
            <a:solidFill>
              <a:srgbClr val="DFDCD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4727448"/>
            <a:ext cx="2734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 в 1 км от объекта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930384" y="472744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32 375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150608" y="5349240"/>
            <a:ext cx="4471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эталон конкуренции для всех трёх форматов - поэтому баллы сравнимы напрямую.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ГЕОАНАЛИТИКА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Окружение объекта по радиусам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3739896"/>
                <a:gridCol w="1463040"/>
                <a:gridCol w="1463040"/>
                <a:gridCol w="1463040"/>
                <a:gridCol w="146304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Показатель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км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км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км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км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Жителей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11 392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32 375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82 992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138 615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302 913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Медицинских объектов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том числе профильных конкурентов клиники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Бизнес-центров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3840480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" y="39867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32 375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68096" y="444398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жителей в километре вокруг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8096" y="470001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по модели упирается в потолок: эталон 25 000 человек перекрыт на 29%.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3840480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39867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26280" y="444398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чужих бизнес-центра в 1 км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26280" y="470001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считает четыре, потому что в её списке есть и сам Тахтапул.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8083296" y="3840480"/>
            <a:ext cx="3538728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284464" y="398678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1 791 м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8284464" y="4443984"/>
            <a:ext cx="3136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метро Бадамзар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284464" y="4700016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Пешая доступность метро для сотрудников и посетителей.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66928" y="55321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здесь заведомо достаточен под любой формат: жилая масса плотная на всех радиусах, а не только у самого объекта.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ГЕОАНАЛИТИКА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окружения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6858000" cy="4800600"/>
          </a:xfrm>
          <a:prstGeom prst="roundRect">
            <a:avLst>
              <a:gd name="adj" fmla="val 1143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737360" y="1527048"/>
            <a:ext cx="4480560" cy="44805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DFDCD5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611880" y="15087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км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857500" y="2647188"/>
            <a:ext cx="2240280" cy="224028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DFDCD5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611880" y="262890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 км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30880" y="3020568"/>
            <a:ext cx="1493520" cy="1493520"/>
          </a:xfrm>
          <a:prstGeom prst="ellipse">
            <a:avLst/>
          </a:prstGeom>
          <a:solidFill>
            <a:srgbClr val="FFFFFF">
              <a:alpha val="0"/>
            </a:srgbClr>
          </a:solidFill>
          <a:ln w="15875">
            <a:solidFill>
              <a:srgbClr val="A880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30022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км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604260" y="3393948"/>
            <a:ext cx="746760" cy="746760"/>
          </a:xfrm>
          <a:prstGeom prst="ellipse">
            <a:avLst/>
          </a:prstGeom>
          <a:solidFill>
            <a:srgbClr val="FFFFFF">
              <a:alpha val="0"/>
            </a:srgbClr>
          </a:solidFill>
          <a:ln w="9525">
            <a:solidFill>
              <a:srgbClr val="DFDCD5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3611880" y="337566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28762" y="253678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54985" y="477258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85275" y="339257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42973" y="452391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97639" y="4562749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37283" y="4591126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37591" y="443953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45892" y="3713683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03635" y="342319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31529" y="536252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07807" y="2965430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0319" y="4337975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67725" y="4837557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27904" y="2547244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162123" y="462622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45828" y="365767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84174" y="4247617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19206" y="4234175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93181" y="454258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40732" y="437979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79387" y="528038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88677" y="167428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27223" y="4614276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62607" y="522363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58369" y="273766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40710" y="2916890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62870" y="432079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90677" y="5221392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34361" y="520795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615672" y="224107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524302" y="2654778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164364" y="4735251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56830" y="4554535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146706" y="2931825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45343" y="441190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72886" y="501453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553602" y="331342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135240" y="192892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07962" y="217087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475939" y="386378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647517" y="4576938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53536" y="562837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969636" y="4978695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930804" y="4756160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624456" y="5163891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442335" y="388767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354041" y="3772677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711739" y="510639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322677" y="548947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614837" y="527963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2488722" y="496450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434121" y="364124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993444" y="523707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751494" y="342543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3561070" y="356955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58237" y="376670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2063069" y="4488820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20722" y="4850252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950879" y="339556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921755" y="336868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670667" y="275932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385581" y="4999604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378114" y="5066812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56458" y="5044410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073436" y="475914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812905" y="420729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893378" y="467028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748418" y="522811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640226" y="453437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50901" y="539613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620152" y="220896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439918" y="250393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85865" y="394069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312399" y="402657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225775" y="417592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539414" y="363452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991862" y="461875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659554" y="222165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90984" y="444177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5289819" y="506979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818702" y="335523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2633594" y="310656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879190" y="372861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935108" y="388469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236318" y="286163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811234" y="3317900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605875" y="342319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2507391" y="539762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944069" y="460830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3726104" y="329773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3750747" y="346650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287844" y="282951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5469788" y="250691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5368229" y="256591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3787338" y="374131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091928" y="433648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437678" y="396086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185450" y="499139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2849408" y="273020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354964" y="503320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2745608" y="518330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2134011" y="438278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177324" y="349936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912794" y="467999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4929881" y="521616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632012" y="453960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543059" y="373832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600648" y="342468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866318" y="426703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3581979" y="452242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3581979" y="452242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643960" y="339183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204689" y="194759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520833" y="292137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4792477" y="443206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354787" y="385407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940601" y="363975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5154656" y="473749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3531946" y="371368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890961" y="330147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011278" y="198866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711827" y="206259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602230" y="317751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3107787" y="422596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037503" y="335897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3245190" y="363154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851648" y="273169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730496" y="534012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951714" y="443206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876291" y="482784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672907" y="276455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3438601" y="392053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2427488" y="265701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346091" y="486145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3157819" y="442385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4911212" y="193116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394542" y="509220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091093" y="392875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135987" y="396160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093510" y="457245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572841" y="246734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2570866" y="288029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5035921" y="203795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936602" y="522437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05172" y="444028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149517" y="534012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444575" y="388693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780529" y="444028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5398099" y="529084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680463" y="166681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686437" y="167502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2271415" y="230230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5460827" y="532369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2576840" y="3094619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3862761" y="4051965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855205" y="480320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4643125" y="221941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3769416" y="322679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2202713" y="286387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3794059" y="3754755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3425906" y="363975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292060" y="505113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3425906" y="5587304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3825423" y="3309686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340117" y="236802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75456" y="373011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2508138" y="540584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375873" y="502648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5123292" y="4497781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5366736" y="2566660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5953689" y="3721898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005304" y="448956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563310" y="3606897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2529794" y="2981112"/>
            <a:ext cx="47549" cy="47549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3316133" y="4727783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3686526" y="3409752"/>
            <a:ext cx="47549" cy="47549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3770163" y="3550143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597573" y="3906347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307830" y="4353657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878354" y="4147551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891049" y="4231935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844750" y="4344695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5142708" y="3959367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2681387" y="3581507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945563" y="4555282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2835219" y="4397715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4986635" y="4609048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227091" y="4252097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227091" y="4252097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298780" y="4169207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371963" y="4185636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284592" y="4446255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5284592" y="4446255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5433197" y="4255831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2322942" y="3496376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5505633" y="2934066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3724610" y="5489478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4508708" y="5495453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314639" y="5524576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5237546" y="5139995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5636316" y="4735998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5211409" y="5255743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5401086" y="5181813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5486964" y="5203469"/>
            <a:ext cx="47549" cy="47549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895344" y="3685032"/>
            <a:ext cx="164592" cy="164592"/>
          </a:xfrm>
          <a:prstGeom prst="ellipse">
            <a:avLst/>
          </a:prstGeom>
          <a:solidFill>
            <a:srgbClr val="1B1D1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4123944" y="364845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1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TAXTAPUL</a:t>
            </a:r>
            <a:endParaRPr lang="en-US" sz="900" dirty="0"/>
          </a:p>
        </p:txBody>
      </p:sp>
      <p:sp>
        <p:nvSpPr>
          <p:cNvPr id="221" name="Text 219"/>
          <p:cNvSpPr/>
          <p:nvPr/>
        </p:nvSpPr>
        <p:spPr>
          <a:xfrm>
            <a:off x="7699248" y="1463040"/>
            <a:ext cx="3922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на схеме</a:t>
            </a:r>
            <a:endParaRPr lang="en-US" sz="1500" dirty="0"/>
          </a:p>
        </p:txBody>
      </p:sp>
      <p:sp>
        <p:nvSpPr>
          <p:cNvPr id="222" name="Shape 220"/>
          <p:cNvSpPr/>
          <p:nvPr/>
        </p:nvSpPr>
        <p:spPr>
          <a:xfrm>
            <a:off x="7717536" y="2002536"/>
            <a:ext cx="137160" cy="137160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3" name="Text 221"/>
          <p:cNvSpPr/>
          <p:nvPr/>
        </p:nvSpPr>
        <p:spPr>
          <a:xfrm>
            <a:off x="7973568" y="19202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Профильные конкуренты клиники</a:t>
            </a:r>
            <a:endParaRPr lang="en-US" sz="1050" dirty="0"/>
          </a:p>
        </p:txBody>
      </p:sp>
      <p:sp>
        <p:nvSpPr>
          <p:cNvPr id="224" name="Text 222"/>
          <p:cNvSpPr/>
          <p:nvPr/>
        </p:nvSpPr>
        <p:spPr>
          <a:xfrm>
            <a:off x="11073384" y="1920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152</a:t>
            </a:r>
            <a:endParaRPr lang="en-US" sz="1300" dirty="0"/>
          </a:p>
        </p:txBody>
      </p:sp>
      <p:sp>
        <p:nvSpPr>
          <p:cNvPr id="225" name="Shape 223"/>
          <p:cNvSpPr/>
          <p:nvPr/>
        </p:nvSpPr>
        <p:spPr>
          <a:xfrm>
            <a:off x="7717536" y="2569464"/>
            <a:ext cx="137160" cy="137160"/>
          </a:xfrm>
          <a:prstGeom prst="ellipse">
            <a:avLst/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7973568" y="2487168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Прочая медицина: стоматология, узкие профили</a:t>
            </a:r>
            <a:endParaRPr lang="en-US" sz="1050" dirty="0"/>
          </a:p>
        </p:txBody>
      </p:sp>
      <p:sp>
        <p:nvSpPr>
          <p:cNvPr id="227" name="Text 225"/>
          <p:cNvSpPr/>
          <p:nvPr/>
        </p:nvSpPr>
        <p:spPr>
          <a:xfrm>
            <a:off x="11073384" y="2487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300" dirty="0"/>
          </a:p>
        </p:txBody>
      </p:sp>
      <p:sp>
        <p:nvSpPr>
          <p:cNvPr id="228" name="Shape 226"/>
          <p:cNvSpPr/>
          <p:nvPr/>
        </p:nvSpPr>
        <p:spPr>
          <a:xfrm>
            <a:off x="7717536" y="3136392"/>
            <a:ext cx="137160" cy="137160"/>
          </a:xfrm>
          <a:prstGeom prst="ellipse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7973568" y="3054096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Бизнес-центры, кроме самого объекта</a:t>
            </a:r>
            <a:endParaRPr lang="en-US" sz="1050" dirty="0"/>
          </a:p>
        </p:txBody>
      </p:sp>
      <p:sp>
        <p:nvSpPr>
          <p:cNvPr id="230" name="Text 228"/>
          <p:cNvSpPr/>
          <p:nvPr/>
        </p:nvSpPr>
        <p:spPr>
          <a:xfrm>
            <a:off x="11073384" y="30540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300" dirty="0"/>
          </a:p>
        </p:txBody>
      </p:sp>
      <p:sp>
        <p:nvSpPr>
          <p:cNvPr id="231" name="Text 229"/>
          <p:cNvSpPr/>
          <p:nvPr/>
        </p:nvSpPr>
        <p:spPr>
          <a:xfrm>
            <a:off x="7699248" y="370332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объектов в каждом кольце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99248" y="4041648"/>
          <a:ext cx="3922776" cy="914400"/>
        </p:xfrm>
        <a:graphic>
          <a:graphicData uri="http://schemas.openxmlformats.org/drawingml/2006/table">
            <a:tbl>
              <a:tblPr/>
              <a:tblGrid>
                <a:gridCol w="1636776"/>
                <a:gridCol w="1280160"/>
                <a:gridCol w="100584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Радиус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Медицина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км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км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км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3" name="Text 230"/>
          <p:cNvSpPr/>
          <p:nvPr/>
        </p:nvSpPr>
        <p:spPr>
          <a:xfrm>
            <a:off x="7699248" y="5577840"/>
            <a:ext cx="3922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Всего 204 объектов в радиусе 3 км. Аптеки и махаллинские центры не показываем: ни офису, ни клинике они не конкуренты.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МОДЕЛИ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формата, один эталон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8016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 тот же прогон при эталоне конкуренции 8 объектов: цифры сопоставимы между собой напрямую.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3538728" cy="397764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9050">
            <a:solidFill>
              <a:srgbClr val="A8804C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86384" y="190195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Бизнес-центр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95728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6200" dirty="0"/>
          </a:p>
        </p:txBody>
      </p:sp>
      <p:sp>
        <p:nvSpPr>
          <p:cNvPr id="10" name="Text 8"/>
          <p:cNvSpPr/>
          <p:nvPr/>
        </p:nvSpPr>
        <p:spPr>
          <a:xfrm>
            <a:off x="786384" y="324612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3566160"/>
            <a:ext cx="3099816" cy="146304"/>
          </a:xfrm>
          <a:prstGeom prst="roundRect">
            <a:avLst>
              <a:gd name="adj" fmla="val 18750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3566160"/>
            <a:ext cx="2417856" cy="146304"/>
          </a:xfrm>
          <a:prstGeom prst="roundRect">
            <a:avLst>
              <a:gd name="adj" fmla="val 18750"/>
            </a:avLst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91363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 в 1 км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871216" y="3913632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" y="4279392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43342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города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71216" y="4334256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6384" y="4700016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47548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Перцентиль точки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871216" y="475488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86384" y="52303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ниже медианы города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25112" y="1737360"/>
            <a:ext cx="3538728" cy="397764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544568" y="190195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Клиника (мед-конкуренты)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44568" y="2395728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63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6200" dirty="0"/>
          </a:p>
        </p:txBody>
      </p:sp>
      <p:sp>
        <p:nvSpPr>
          <p:cNvPr id="25" name="Text 23"/>
          <p:cNvSpPr/>
          <p:nvPr/>
        </p:nvSpPr>
        <p:spPr>
          <a:xfrm>
            <a:off x="4544568" y="324612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100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44568" y="3566160"/>
            <a:ext cx="3099816" cy="146304"/>
          </a:xfrm>
          <a:prstGeom prst="roundRect">
            <a:avLst>
              <a:gd name="adj" fmla="val 18750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4568" y="3566160"/>
            <a:ext cx="1704899" cy="146304"/>
          </a:xfrm>
          <a:prstGeom prst="roundRect">
            <a:avLst>
              <a:gd name="adj" fmla="val 18750"/>
            </a:avLst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4568" y="391363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 в 1 км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629400" y="3913632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44568" y="4279392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44568" y="43342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города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629400" y="4334256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44568" y="4700016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44568" y="47548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Перцентиль точки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29400" y="475488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44568" y="52303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медианы города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083296" y="1737360"/>
            <a:ext cx="3538728" cy="397764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302752" y="1901952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Образование (школы, курсы, центры)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302752" y="2395728"/>
            <a:ext cx="30998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63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6200" dirty="0"/>
          </a:p>
        </p:txBody>
      </p:sp>
      <p:sp>
        <p:nvSpPr>
          <p:cNvPr id="40" name="Text 38"/>
          <p:cNvSpPr/>
          <p:nvPr/>
        </p:nvSpPr>
        <p:spPr>
          <a:xfrm>
            <a:off x="8302752" y="3246120"/>
            <a:ext cx="3099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100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302752" y="3566160"/>
            <a:ext cx="3099816" cy="146304"/>
          </a:xfrm>
          <a:prstGeom prst="roundRect">
            <a:avLst>
              <a:gd name="adj" fmla="val 18750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02752" y="3566160"/>
            <a:ext cx="1704899" cy="146304"/>
          </a:xfrm>
          <a:prstGeom prst="roundRect">
            <a:avLst>
              <a:gd name="adj" fmla="val 18750"/>
            </a:avLst>
          </a:prstGeom>
          <a:solidFill>
            <a:srgbClr val="D3C3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2752" y="3913632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 в 1 км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387584" y="3913632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302752" y="4279392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02752" y="4334256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города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387584" y="4334256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8302752" y="4700016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02752" y="4754880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Перцентиль точки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0387584" y="4754880"/>
            <a:ext cx="1014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302752" y="5230368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уровне медианы города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66928" y="589788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Перцентиль показывает, какую долю городских точек наш объект обходит по этому формату.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МОДЕЛИ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 чего складывается балл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формуле два слагаемых. Спрос у всех трёх форматов одинаковый и уже упёрся в потолок модели, поэтому форматы различает только конкуренция.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898648" y="1783080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Спрос, 55 баллов максимум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963156" y="17830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F5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Конкуренция, 45 баллов максимум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6928" y="2167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Бизнес-центр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898648" y="2148840"/>
            <a:ext cx="7223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DC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98648" y="2148840"/>
            <a:ext cx="3973068" cy="457200"/>
          </a:xfrm>
          <a:prstGeom prst="rect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8648" y="2148840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71716" y="2148840"/>
            <a:ext cx="1625346" cy="457200"/>
          </a:xfrm>
          <a:prstGeom prst="rect">
            <a:avLst/>
          </a:prstGeom>
          <a:solidFill>
            <a:srgbClr val="2F5F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71716" y="2148840"/>
            <a:ext cx="16253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59568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78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898648" y="2642616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конкурента при эталоне 8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66928" y="30998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Клиника (мед-конкуренты)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98648" y="3081528"/>
            <a:ext cx="7223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DCD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98648" y="3081528"/>
            <a:ext cx="3973068" cy="457200"/>
          </a:xfrm>
          <a:prstGeom prst="rect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98648" y="3081528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59568" y="308152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98648" y="3575304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конкурента при эталоне 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" y="403250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 (школы, курсы, центры)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898648" y="4014216"/>
            <a:ext cx="7223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FDCD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98648" y="4014216"/>
            <a:ext cx="3973068" cy="457200"/>
          </a:xfrm>
          <a:prstGeom prst="rect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98648" y="4014216"/>
            <a:ext cx="39730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259568" y="401421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898648" y="450799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конкурентов при эталоне 8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5120640"/>
            <a:ext cx="11055096" cy="1005840"/>
          </a:xfrm>
          <a:prstGeom prst="roundRect">
            <a:avLst>
              <a:gd name="adj" fmla="val 5455"/>
            </a:avLst>
          </a:prstGeom>
          <a:solidFill>
            <a:srgbClr val="EDE7DC"/>
          </a:solidFill>
          <a:ln w="12700">
            <a:solidFill>
              <a:srgbClr val="DFDC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5285232"/>
            <a:ext cx="10597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Отсюда важный вывод: разница между форматами в этой модели не про качество места, а исключительно про число соседей той же категории. Место у всех трёх форматов одно и то же и оценено одинаково высоко.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МОДЕЛИ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формулу можно применять, а где нельзя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штрафует за любое соседство одинаково. Для офиса это верно, для медицины и образования - нет.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1783080"/>
            <a:ext cx="53903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86384" y="1993392"/>
            <a:ext cx="310896" cy="310896"/>
          </a:xfrm>
          <a:prstGeom prst="ellipse">
            <a:avLst/>
          </a:prstGeom>
          <a:solidFill>
            <a:srgbClr val="2E7C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07008" y="1993392"/>
            <a:ext cx="45217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Работает: офис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2514600"/>
            <a:ext cx="49514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Арендатор выбирает одно здание из нескольких. Соседний бизнес-центр это прямой отток спроса: тот, кто снял там, не снимет здесь. Чем меньше соседей, тем выше шанс сдать площадь.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86384" y="3794760"/>
            <a:ext cx="49514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 за одного и того же арендатора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 делится, не складывается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модели отражает реальность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" y="53492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78 читаем как есть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31636" y="1783080"/>
            <a:ext cx="5390388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51092" y="1993392"/>
            <a:ext cx="310896" cy="310896"/>
          </a:xfrm>
          <a:prstGeom prst="ellipse">
            <a:avLst/>
          </a:prstGeom>
          <a:solidFill>
            <a:srgbClr val="9A6A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51092" y="1993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1716" y="1993392"/>
            <a:ext cx="45217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 работает: клиника и учебный центр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51092" y="2514600"/>
            <a:ext cx="49514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Здесь соседство даёт приток. Пациент едет в место, известное как место, куда ходят лечиться; ученик идёт туда, где рядом школа и другие занятия. Кластер работает на нас, а формула считает его минусом.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1092" y="3794760"/>
            <a:ext cx="495147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Больницы и роддом рядом дают направления и поток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Место уже известно людям по нужному поводу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 модели искажает картину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51092" y="5349240"/>
            <a:ext cx="49514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55 сам по себе не приговор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66928" y="60350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ограничение самой формулы, а не ошибка в данных. Эталон насыщения нельзя применять к форматам с эффектом кластера.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Клиника: насыщение здесь работает в плюс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километре вокруг объекта 34 медицинских объекта. Модель называет это насыщением, но состав кластера показывает обратное: рядом стационары, роддом и диспансеры, то есть источники направлений, а не соперники за того же пациента.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011680"/>
          <a:ext cx="68580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00200"/>
                <a:gridCol w="1234440"/>
              </a:tblGrid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Объект в радиусе 1 км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Профиль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Расстояние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41-oilaviy poliklinika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поликлиника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Детская инфекционная клиническая больница №4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стационар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LINE - ЭКО клиника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433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Областной онкологический диспансер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диспансер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462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Родильный комплекс №3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роддом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553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Центр репродуктивной медицины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ЭКО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554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Sinomed MD International Hospital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стационар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629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Инфекционная больница №1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стационар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673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19 - Oilaviy Poliklinika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поликлиника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939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699248" y="2011680"/>
            <a:ext cx="39227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82128" y="2130552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пациентов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882128" y="2395728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Стационар выписывает - наблюдение и реабилитация нужны рядом.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699248" y="3035808"/>
            <a:ext cx="39227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82128" y="3154680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82128" y="3419856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Диспансеры и поликлиники направляют на диагностику и узкий приём.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699248" y="4059936"/>
            <a:ext cx="39227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882128" y="4178808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Репутация места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7882128" y="4443984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Район уже известен людям как место, куда едут лечиться.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699248" y="5084064"/>
            <a:ext cx="392277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882128" y="5202936"/>
            <a:ext cx="3557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Кадры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82128" y="5468112"/>
            <a:ext cx="3557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2-й Республиканский медицинский колледж в ближней зоне.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66928" y="53035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этаж с потолком 4,0 м и отдельным входом закрывает ресепшн и диагностику, верхние этажи - кабинеты приёма.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Учебный центр: аудитория рядом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Вокруг объекта плотная образовательная среда, но почти вся она государственная и школьная. Коммерческая ниша при этом пустая.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66928" y="1783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 образования в ближней зоне вокруг объекта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22128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35808" y="2322576"/>
            <a:ext cx="3200400" cy="164592"/>
          </a:xfrm>
          <a:prstGeom prst="roundRect">
            <a:avLst>
              <a:gd name="adj" fmla="val 16667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035808" y="2322576"/>
            <a:ext cx="1491449" cy="164592"/>
          </a:xfrm>
          <a:prstGeom prst="roundRect">
            <a:avLst>
              <a:gd name="adj" fmla="val 16667"/>
            </a:avLst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73368" y="22128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 ·  47%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66928" y="277977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Детский сад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035808" y="2889504"/>
            <a:ext cx="3200400" cy="164592"/>
          </a:xfrm>
          <a:prstGeom prst="roundRect">
            <a:avLst>
              <a:gd name="adj" fmla="val 16667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35808" y="2889504"/>
            <a:ext cx="1056443" cy="164592"/>
          </a:xfrm>
          <a:prstGeom prst="roundRect">
            <a:avLst>
              <a:gd name="adj" fmla="val 16667"/>
            </a:avLst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277977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 ·  33%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34670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 / вуз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035808" y="3456432"/>
            <a:ext cx="3200400" cy="164592"/>
          </a:xfrm>
          <a:prstGeom prst="roundRect">
            <a:avLst>
              <a:gd name="adj" fmla="val 16667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35808" y="3456432"/>
            <a:ext cx="310718" cy="164592"/>
          </a:xfrm>
          <a:prstGeom prst="roundRect">
            <a:avLst>
              <a:gd name="adj" fmla="val 16667"/>
            </a:avLst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73368" y="3346704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10%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9136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Колледж / лицей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035808" y="4023360"/>
            <a:ext cx="3200400" cy="164592"/>
          </a:xfrm>
          <a:prstGeom prst="roundRect">
            <a:avLst>
              <a:gd name="adj" fmla="val 16667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35808" y="4023360"/>
            <a:ext cx="279647" cy="164592"/>
          </a:xfrm>
          <a:prstGeom prst="roundRect">
            <a:avLst>
              <a:gd name="adj" fmla="val 16667"/>
            </a:avLst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39136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·  9%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44805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Языковая школа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35808" y="4590288"/>
            <a:ext cx="3200400" cy="164592"/>
          </a:xfrm>
          <a:prstGeom prst="roundRect">
            <a:avLst>
              <a:gd name="adj" fmla="val 16667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035808" y="4590288"/>
            <a:ext cx="54864" cy="164592"/>
          </a:xfrm>
          <a:prstGeom prst="roundRect">
            <a:avLst>
              <a:gd name="adj" fmla="val 50000"/>
            </a:avLst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3368" y="4480560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1%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" y="50474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Курсы / учебный центр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035808" y="5157216"/>
            <a:ext cx="3200400" cy="164592"/>
          </a:xfrm>
          <a:prstGeom prst="roundRect">
            <a:avLst>
              <a:gd name="adj" fmla="val 16667"/>
            </a:avLst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5808" y="5157216"/>
            <a:ext cx="54864" cy="164592"/>
          </a:xfrm>
          <a:prstGeom prst="roundRect">
            <a:avLst>
              <a:gd name="adj" fmla="val 50000"/>
            </a:avLst>
          </a:prstGeom>
          <a:solidFill>
            <a:srgbClr val="9A6A1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73368" y="504748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·  1%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99248" y="1783080"/>
            <a:ext cx="3922776" cy="1600200"/>
          </a:xfrm>
          <a:prstGeom prst="roundRect">
            <a:avLst>
              <a:gd name="adj" fmla="val 3429"/>
            </a:avLst>
          </a:prstGeom>
          <a:solidFill>
            <a:srgbClr val="EDE7DC"/>
          </a:solidFill>
          <a:ln w="12700">
            <a:solidFill>
              <a:srgbClr val="DFDC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0416" y="1938528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A6A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из 103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7900416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 образования в ближней зоне - коммерческий учебный центр. Остальное это школы, детские сады, колледжи и вузы, то есть готовая аудитория, а не конкуренты.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699248" y="3611880"/>
            <a:ext cx="392277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882128" y="3703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900" dirty="0"/>
          </a:p>
        </p:txBody>
      </p:sp>
      <p:sp>
        <p:nvSpPr>
          <p:cNvPr id="37" name="Text 35"/>
          <p:cNvSpPr/>
          <p:nvPr/>
        </p:nvSpPr>
        <p:spPr>
          <a:xfrm>
            <a:off x="9025128" y="370332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103 объектов ближней зоны это школы и детские сады: дети, родители и педагоги рядом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699248" y="4572000"/>
            <a:ext cx="3922776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882128" y="466344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9025128" y="4663440"/>
            <a:ext cx="24140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 насчитала модель, но в этот счёт попали те же школы и детские сады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99248" y="5577840"/>
            <a:ext cx="3922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Ближайшие коммерческие центры: NOBELIS, ALPHA EDUCATION, PDP Academy, Free Study.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" y="521208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№20 стоит на той же улице, соседним зданием. Это и подтверждает жилой характер места, и закрывает вариант собственной школы: полноценная школа конкурировала бы с ней в упор, а курсы её дополняют. Отдельно: участок под школу мал, 645 м² минус пятно 440 м² оставляют около 205 м².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Офис: лучший балл модели и его цена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офиса единственного из трёх форматов конкуренция ниже эталона, поэтому он и получает 78 из 100. Но это же и единственный формат, где балл ниже медианы города.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566928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Ближайшие бизнес-центры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Расстояние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Бизнес 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889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948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plaza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1 351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Nova Minor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1 416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1 441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510528" y="1828800"/>
            <a:ext cx="24460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729984" y="2029968"/>
            <a:ext cx="2007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6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6729984" y="2596896"/>
            <a:ext cx="2007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100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29984" y="2834640"/>
            <a:ext cx="20071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модели, лучший из трёх форматов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76004" y="1828800"/>
            <a:ext cx="24460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9395460" y="2029968"/>
            <a:ext cx="20071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366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9395460" y="2596896"/>
            <a:ext cx="20071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395460" y="2834640"/>
            <a:ext cx="20071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города по этому формату выше нашей точки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510528" y="3584448"/>
            <a:ext cx="5111496" cy="2011680"/>
          </a:xfrm>
          <a:prstGeom prst="roundRect">
            <a:avLst>
              <a:gd name="adj" fmla="val 2727"/>
            </a:avLst>
          </a:prstGeom>
          <a:solidFill>
            <a:srgbClr val="EDE7DC"/>
          </a:solidFill>
          <a:ln w="12700">
            <a:solidFill>
              <a:srgbClr val="DFDCD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11696" y="3749040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читать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711696" y="4059936"/>
            <a:ext cx="4709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обходит 42% ячеек города. Свободная ниша есть, но офисный спрос в Ташкенте тянется в деловые коридоры, а здесь жилой массив. Поэтому офис мы ставим третьим и в формате «здание целиком под одну компанию»: такому арендатору важен не деловой адрес, а свой отдельный дом, парковка и близость к жилью сотрудников.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4343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километре три чужих бизнес-центра, ближайший NEXUS в 358 м. Модель показывает четыре, потому что в её списке бизнес-центров есть и сам Тахтапул.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6928" y="576072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Совокупная арендопригодная площадь 1 855,0 м² на пяти уровнях со свободной планировкой позволяет собрать здание под одного арендатора без перестройки несущих конструкций.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se-site/admin/data/projects/takhtapul/uploads/facade-nigh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92240" y="0"/>
            <a:ext cx="56994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92240" cy="6858000"/>
          </a:xfrm>
          <a:prstGeom prst="rect">
            <a:avLst/>
          </a:prstGeom>
          <a:solidFill>
            <a:srgbClr val="1B1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137160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A88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66928" y="260604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Позиция CASE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566928" y="329184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форматов, обоснование расхождения с моделью и что объект даёт каждому сценарию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66928" y="39776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Приоритет: клиника, учебный центр, офис целиком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порядок не совпадает с баллом модели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здание даёт каждому формату по уровням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сделки и что нужно уточнить по данным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40080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 форматов: позиция CASE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3538728" cy="457200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19050">
            <a:solidFill>
              <a:srgbClr val="A8804C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572768"/>
            <a:ext cx="475488" cy="475488"/>
          </a:xfrm>
          <a:prstGeom prst="ellipse">
            <a:avLst/>
          </a:prstGeom>
          <a:solidFill>
            <a:srgbClr val="A880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Клиника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212848"/>
            <a:ext cx="3099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Медицинский кластер в километре: стационары, роддом, онкодиспансер, детская инфекционная больница. Это поток направлений и узнаваемость места. Первый этаж с потолком 4,0 м и отдельным входом закрывает ресепшн и диагностику, верхние уровни - кабинеты.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" y="3886200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4041648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медобъекта в 1 км, из них стационары и роддом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Медицинский колледж рядом как источник кадров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модели 55: штраф за кластер, который здесь плюс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25112" y="1371600"/>
            <a:ext cx="3538728" cy="457200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44568" y="1572768"/>
            <a:ext cx="475488" cy="475488"/>
          </a:xfrm>
          <a:prstGeom prst="ellipse">
            <a:avLst/>
          </a:prstGeom>
          <a:solidFill>
            <a:srgbClr val="8C6A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44568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9784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Учебный центр и курсы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44568" y="2212848"/>
            <a:ext cx="3099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ближней зоне 86 школ и детских садов и всего один коммерческий учебный центр в слое OSM. Аудитория живёт вокруг: 32 375 человек в километре. Формат берёт этажи целиком или блоками.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3886200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44568" y="4041648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№20 соседним зданием, поток учеников и родителей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 планировка под аудитории от 359 до 382 м²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модели 55: в конкуренты записаны школы и детсады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083296" y="1371600"/>
            <a:ext cx="3538728" cy="4572000"/>
          </a:xfrm>
          <a:prstGeom prst="roundRect">
            <a:avLst>
              <a:gd name="adj" fmla="val 155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02752" y="1572768"/>
            <a:ext cx="475488" cy="475488"/>
          </a:xfrm>
          <a:prstGeom prst="ellipse">
            <a:avLst/>
          </a:prstGeom>
          <a:solidFill>
            <a:srgbClr val="6366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02752" y="15727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887968" y="1572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Офис целиком под одну компанию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02752" y="2212848"/>
            <a:ext cx="309981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Лучший балл модели, но офисный спрос тянется в деловые коридоры. Реалистичный сценарий - одна компания забирает здание целиком ради отдельного дома и парковки.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02752" y="3886200"/>
            <a:ext cx="3099816" cy="7315"/>
          </a:xfrm>
          <a:prstGeom prst="rect">
            <a:avLst/>
          </a:prstGeom>
          <a:solidFill>
            <a:srgbClr val="DFDC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4041648"/>
            <a:ext cx="309981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чужих бизнес-центра в 1 км, ближайший 358 м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1 855,0 м² на пяти уровнях под одного арендатора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модели 78 при медиане города 83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6035040"/>
            <a:ext cx="110550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это позиция CASE по совокупности данных и практики рынка, а не результат модели. Балл модели приведён у каждого формата отдельно.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приоритет не совпадает с баллом модели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11055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объяснимое, и мы не подгоняем одно под другое: балл показываем как есть, приоритет обосновываем отдельно.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83080"/>
          <a:ext cx="11055096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234440"/>
                <a:gridCol w="1371600"/>
                <a:gridCol w="6620256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Балл модели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Приоритет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Причина расхождения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Модель штрафует за соседей. В медицине соседи дают поток: направления, диагностика, наблюдение после стационара.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Учебный 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конкуренты попали школы и детские сады. Для коммерческих курсов это аудитория, а не соперники.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Офис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Штраф корректен, но модель не видит тип спроса: офисный арендатор ищет деловой коридор, а здесь жилой массив.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" y="4617720"/>
            <a:ext cx="35387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8096" y="475488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модель считает хорошо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68096" y="5047488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Плотность населения, число объектов по категориям, расстояния. Это факты, и мы их приводим без правок.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617720"/>
            <a:ext cx="35387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26280" y="475488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она не различает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26280" y="5047488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спроса и эффект кластера. Один и тот же штраф применяется и к офису, и к клинике.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083296" y="4617720"/>
            <a:ext cx="3538728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284464" y="4754880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это подаём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84464" y="5047488"/>
            <a:ext cx="3136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 модели и приоритет CASE стоят рядом. Выдавать приоритет за результат модели нельзя, как и подгонять балл под приоритет.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здание даёт каждому формату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17320"/>
          <a:ext cx="11055096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234440"/>
                <a:gridCol w="1005840"/>
                <a:gridCol w="2606040"/>
                <a:gridCol w="2468880"/>
                <a:gridCol w="255117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Площадь GLA, м²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Потолок, 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Клиника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Учебный центр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Офис целиком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D1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Подвал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358,9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стерилизация, склад, архив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склад, техпомещения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серверная, архив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этаж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381,6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ресепшн, забор анализов, диагностика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ресепшн, зона ожидания родителей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входная группа, переговорные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этаж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приёма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аудитории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офис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этаж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кабинеты приёма, дневной стационар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аудитории, лаборатории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открытый офис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123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этаж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371,5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администрация, конференц-зона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большой зал, администрация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366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руководство, конференц-зона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4864608"/>
            <a:ext cx="35387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8096" y="499262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 планировка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68096" y="5266944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Несущие стены только по контуру и ядру: перегородки ставятся под задачу арендатора без согласования конструктива.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4864608"/>
            <a:ext cx="35387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26280" y="499262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вход и лифт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4526280" y="5266944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Здание отдельно стоящее, вход свой, лифт на все уровни. Формат «целиком под одного» не требует переделок.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83296" y="4864608"/>
            <a:ext cx="35387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84464" y="4992624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C6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Гибкость по этажам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84464" y="5266944"/>
            <a:ext cx="313639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от 359 до 382 м² можно брать по одному, блоками или целиком, поэтому один арендатор не блокирует остальных.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Формат сделки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64008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 · TAXTAPUL, ул. Тахтапул, 31, Ташкент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81944" y="6400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387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1609344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Аренда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08483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Этаж, блок или здание целиком. Планировка и отделка под задачу арендатора, срок и условия обсуждаются.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86384" y="3108960"/>
            <a:ext cx="3099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одного уровня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Свободная планировка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Возможны каникулы на отделку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417320"/>
            <a:ext cx="35387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4568" y="1609344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Покупка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44568" y="208483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Здание целиком с участком в постоянном пользовании и полным пакетом кадастровых документов.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44568" y="3108960"/>
            <a:ext cx="3099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2 299,0 м² GBA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Участок 645 м²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 в порядке, обременений нет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83296" y="1417320"/>
            <a:ext cx="3538728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FDCD5"/>
            </a:solidFill>
            <a:prstDash val="solid"/>
          </a:ln>
          <a:effectLst>
            <a:outerShdw sx="100000" sy="100000" kx="0" ky="0" algn="bl" rotWithShape="0" blurRad="114300" dist="12700" dir="54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02752" y="1609344"/>
            <a:ext cx="3099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3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Аренда с выкупом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02752" y="2084832"/>
            <a:ext cx="30998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Промежуточный вариант: арендатор занимает здание сейчас и фиксирует условия последующего выкупа.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02752" y="3108960"/>
            <a:ext cx="309981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без полной суммы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выкупа фиксируются на старте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636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Подходит операторам клиники и учебного центра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66928" y="4846320"/>
            <a:ext cx="11055096" cy="1097280"/>
          </a:xfrm>
          <a:prstGeom prst="roundRect">
            <a:avLst>
              <a:gd name="adj" fmla="val 5000"/>
            </a:avLst>
          </a:prstGeom>
          <a:solidFill>
            <a:srgbClr val="EDE7DC"/>
          </a:solidFill>
          <a:ln w="12700">
            <a:solidFill>
              <a:srgbClr val="DFDC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0749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Коммерческие условия предоставляются по запросу. Настоящий документ носит справочный характер и не является публичной офертой; площади подлежат уточнению по фактическим обмерам при сдаче.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1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ase-site/admin/data/projects/takhtapul/uploads/og-cov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702552" cy="6858000"/>
          </a:xfrm>
          <a:prstGeom prst="rect">
            <a:avLst/>
          </a:prstGeom>
          <a:solidFill>
            <a:srgbClr val="1B1D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11887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A88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REAL ESTATE ADVISORY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66928" y="169164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Обсудить объект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66928" y="2514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9C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Покажем здание, поднимем документы и посчитаем экономику под ваш формат.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66928" y="3950208"/>
            <a:ext cx="5486400" cy="7315"/>
          </a:xfrm>
          <a:prstGeom prst="rect">
            <a:avLst/>
          </a:prstGeom>
          <a:solidFill>
            <a:srgbClr val="3A3C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95728" y="3383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+998 90 922 07 00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66928" y="4608576"/>
            <a:ext cx="5486400" cy="7315"/>
          </a:xfrm>
          <a:prstGeom prst="rect">
            <a:avLst/>
          </a:prstGeom>
          <a:solidFill>
            <a:srgbClr val="3A3C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40416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395728" y="404164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muhammadaxmadiy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66928" y="5266944"/>
            <a:ext cx="5486400" cy="7315"/>
          </a:xfrm>
          <a:prstGeom prst="rect">
            <a:avLst/>
          </a:prstGeom>
          <a:solidFill>
            <a:srgbClr val="3A3C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47000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395728" y="47000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caseadvisory.uz/taxtapul/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66928" y="5925312"/>
            <a:ext cx="5486400" cy="7315"/>
          </a:xfrm>
          <a:prstGeom prst="rect">
            <a:avLst/>
          </a:prstGeom>
          <a:solidFill>
            <a:srgbClr val="3A3C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" y="535838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Адрес объекта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395728" y="535838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ул. Тахтапул, 31, Ташкент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66928" y="6309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 подготовлен CASE Real Estate Advisory. Справочный характер, не является публичной офертой.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CASE Real Estate Advisory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Taxtapul 31 - инвестиционный обзор</dc:title>
  <dc:subject>Геоаналитика и выбор формата</dc:subject>
  <dc:creator>CASE Real Estate Advisory</dc:creator>
  <cp:lastModifiedBy>CASE Real Estate Advisory</cp:lastModifiedBy>
  <cp:revision>1</cp:revision>
  <dcterms:created xsi:type="dcterms:W3CDTF">2026-08-07T13:43:22Z</dcterms:created>
  <dcterms:modified xsi:type="dcterms:W3CDTF">2026-08-07T13:43:22Z</dcterms:modified>
</cp:coreProperties>
</file>